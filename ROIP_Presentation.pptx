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ROIP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Operations Intelligence Platform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2743200"/>
            <a:ext cx="182880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1089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Greenberg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35661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AI Success Engineer  |  February 2026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42976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github.com/realmwell/roip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Scenario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 retail enterprise runs a RAG-powered internal search assistant for thousands of store employees.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the past two weeks: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54864" cy="5486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1031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0" y="2103120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 response time exceeded SLA targets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834640"/>
            <a:ext cx="54864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8346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rates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0" y="2834640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429 rate limit errors spiking during peak hours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566160"/>
            <a:ext cx="54864" cy="54864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5661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costs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43200" y="3566160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spend increasing faster than query volume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297680"/>
            <a:ext cx="54864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2976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pressure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743200" y="4297680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wants to expand to 3 new teams next quarter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51206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API Gateway &gt; Lambda (Node.js) &gt; Vector Store + GPT-4o + Inventory Lookup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Diagnosis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reveals: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8046720" cy="731520"/>
          </a:xfrm>
          <a:prstGeom prst="roundRect">
            <a:avLst>
              <a:gd name="adj" fmla="val 12500"/>
            </a:avLst>
          </a:prstGeom>
          <a:solidFill>
            <a:srgbClr val="F3F4F6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554480"/>
            <a:ext cx="54864" cy="7315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60020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stage bottleneck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187452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 latency dominates total response time. Likely caused by unoptimized embedding dimensions and no result caching.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8046720" cy="731520"/>
          </a:xfrm>
          <a:prstGeom prst="roundRect">
            <a:avLst>
              <a:gd name="adj" fmla="val 12500"/>
            </a:avLst>
          </a:prstGeom>
          <a:solidFill>
            <a:srgbClr val="F3F4F6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2468880"/>
            <a:ext cx="54864" cy="7315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51460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 saturation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278892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429 errors correlate with peak traffic windows. No request queuing, backoff, or load shedding in place.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383280"/>
            <a:ext cx="8046720" cy="731520"/>
          </a:xfrm>
          <a:prstGeom prst="roundRect">
            <a:avLst>
              <a:gd name="adj" fmla="val 12500"/>
            </a:avLst>
          </a:prstGeom>
          <a:solidFill>
            <a:srgbClr val="F3F4F6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3383280"/>
            <a:ext cx="54864" cy="73152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42900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cost inflation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370332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context window sent on every request. No prompt caching, no query routing to cheaper models for simple questions.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297680"/>
            <a:ext cx="8046720" cy="731520"/>
          </a:xfrm>
          <a:prstGeom prst="roundRect">
            <a:avLst>
              <a:gd name="adj" fmla="val 12500"/>
            </a:avLst>
          </a:prstGeom>
          <a:solidFill>
            <a:srgbClr val="F3F4F6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4297680"/>
            <a:ext cx="54864" cy="73152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34340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observability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" y="461772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per-stage latency instrumentation. Team is debugging blind without knowing which pipeline component is slow.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Questions for the Customer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recommending changes, these are the questions I'd need answered: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What's the traffic pattern? Steady load or spiky peaks tied to store hours?</a:t>
            </a:r>
            <a:endParaRPr lang="en-US" sz="13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What are the actual SLAs? Is P95 latency under 3s acceptable, or do they need sub-second?</a:t>
            </a:r>
            <a:endParaRPr lang="en-US" sz="13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How are prompts structured? Static system prompt + dynamic context, or fully dynamic?</a:t>
            </a:r>
            <a:endParaRPr lang="en-US" sz="13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What embedding model and dimensions are they using? Have they benchmarked alternatives?</a:t>
            </a:r>
            <a:endParaRPr lang="en-US" sz="13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Is there any caching layer today? If so, exact match or semantic?</a:t>
            </a:r>
            <a:endParaRPr lang="en-US" sz="13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How many unique query patterns exist vs. repeated similar questions across stores?</a:t>
            </a:r>
            <a:endParaRPr lang="en-US" sz="13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What does the inventory lookup integration look like? Is that a separate latency source?</a:t>
            </a:r>
            <a:endParaRPr lang="en-US" sz="13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What's the team's deployment cadence? Can they iterate weekly or is this quarterly?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Action Plan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743200" cy="685800"/>
          </a:xfrm>
          <a:prstGeom prst="roundRect">
            <a:avLst>
              <a:gd name="adj" fmla="val 10667"/>
            </a:avLst>
          </a:prstGeom>
          <a:solidFill>
            <a:srgbClr val="EF4444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0584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(Week 1-2)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874520"/>
            <a:ext cx="2743200" cy="640080"/>
          </a:xfrm>
          <a:prstGeom prst="roundRect">
            <a:avLst>
              <a:gd name="adj" fmla="val 8571"/>
            </a:avLst>
          </a:prstGeom>
          <a:solidFill>
            <a:srgbClr val="F3F4F6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8745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request queuing with exponential backoff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651760"/>
            <a:ext cx="2743200" cy="640080"/>
          </a:xfrm>
          <a:prstGeom prst="roundRect">
            <a:avLst>
              <a:gd name="adj" fmla="val 8571"/>
            </a:avLst>
          </a:prstGeom>
          <a:solidFill>
            <a:srgbClr val="F3F4F6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6517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semantic cache (Redis)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3429000"/>
            <a:ext cx="2743200" cy="640080"/>
          </a:xfrm>
          <a:prstGeom prst="roundRect">
            <a:avLst>
              <a:gd name="adj" fmla="val 8571"/>
            </a:avLst>
          </a:prstGeom>
          <a:solidFill>
            <a:srgbClr val="F3F4F6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4290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per-stage latency instrumentation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4206240"/>
            <a:ext cx="2743200" cy="640080"/>
          </a:xfrm>
          <a:prstGeom prst="roundRect">
            <a:avLst>
              <a:gd name="adj" fmla="val 8571"/>
            </a:avLst>
          </a:prstGeom>
          <a:solidFill>
            <a:srgbClr val="F3F4F6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42062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rate limit monitoring alerts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46120" y="1005840"/>
            <a:ext cx="2743200" cy="685800"/>
          </a:xfrm>
          <a:prstGeom prst="roundRect">
            <a:avLst>
              <a:gd name="adj" fmla="val 10667"/>
            </a:avLst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3246120" y="100584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(Month 1)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46120" y="1874520"/>
            <a:ext cx="2743200" cy="640080"/>
          </a:xfrm>
          <a:prstGeom prst="roundRect">
            <a:avLst>
              <a:gd name="adj" fmla="val 8571"/>
            </a:avLst>
          </a:prstGeom>
          <a:solidFill>
            <a:srgbClr val="F3F4F6"/>
          </a:solidFill>
          <a:ln/>
        </p:spPr>
      </p:sp>
      <p:sp>
        <p:nvSpPr>
          <p:cNvPr id="17" name="Text 15"/>
          <p:cNvSpPr/>
          <p:nvPr/>
        </p:nvSpPr>
        <p:spPr>
          <a:xfrm>
            <a:off x="3383280" y="18745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query routing (nano/mini/full)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46120" y="2651760"/>
            <a:ext cx="2743200" cy="640080"/>
          </a:xfrm>
          <a:prstGeom prst="roundRect">
            <a:avLst>
              <a:gd name="adj" fmla="val 8571"/>
            </a:avLst>
          </a:prstGeom>
          <a:solidFill>
            <a:srgbClr val="F3F4F6"/>
          </a:solidFill>
          <a:ln/>
        </p:spPr>
      </p:sp>
      <p:sp>
        <p:nvSpPr>
          <p:cNvPr id="19" name="Text 17"/>
          <p:cNvSpPr/>
          <p:nvPr/>
        </p:nvSpPr>
        <p:spPr>
          <a:xfrm>
            <a:off x="3383280" y="26517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prompt caching for static segments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46120" y="3429000"/>
            <a:ext cx="2743200" cy="640080"/>
          </a:xfrm>
          <a:prstGeom prst="roundRect">
            <a:avLst>
              <a:gd name="adj" fmla="val 8571"/>
            </a:avLst>
          </a:prstGeom>
          <a:solidFill>
            <a:srgbClr val="F3F4F6"/>
          </a:solidFill>
          <a:ln/>
        </p:spPr>
      </p:sp>
      <p:sp>
        <p:nvSpPr>
          <p:cNvPr id="21" name="Text 19"/>
          <p:cNvSpPr/>
          <p:nvPr/>
        </p:nvSpPr>
        <p:spPr>
          <a:xfrm>
            <a:off x="3383280" y="34290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embedding to 512 dimensions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46120" y="4206240"/>
            <a:ext cx="2743200" cy="640080"/>
          </a:xfrm>
          <a:prstGeom prst="roundRect">
            <a:avLst>
              <a:gd name="adj" fmla="val 8571"/>
            </a:avLst>
          </a:prstGeom>
          <a:solidFill>
            <a:srgbClr val="F3F4F6"/>
          </a:solidFill>
          <a:ln/>
        </p:spPr>
      </p:sp>
      <p:sp>
        <p:nvSpPr>
          <p:cNvPr id="23" name="Text 21"/>
          <p:cNvSpPr/>
          <p:nvPr/>
        </p:nvSpPr>
        <p:spPr>
          <a:xfrm>
            <a:off x="3383280" y="42062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evaluation harness for benchmarking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1005840"/>
            <a:ext cx="2743200" cy="685800"/>
          </a:xfrm>
          <a:prstGeom prst="roundRect">
            <a:avLst>
              <a:gd name="adj" fmla="val 10667"/>
            </a:avLst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6126480" y="100584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Medium-term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(Quarter)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126480" y="1874520"/>
            <a:ext cx="2743200" cy="640080"/>
          </a:xfrm>
          <a:prstGeom prst="roundRect">
            <a:avLst>
              <a:gd name="adj" fmla="val 8571"/>
            </a:avLst>
          </a:prstGeom>
          <a:solidFill>
            <a:srgbClr val="F3F4F6"/>
          </a:solidFill>
          <a:ln/>
        </p:spPr>
      </p:sp>
      <p:sp>
        <p:nvSpPr>
          <p:cNvPr id="27" name="Text 25"/>
          <p:cNvSpPr/>
          <p:nvPr/>
        </p:nvSpPr>
        <p:spPr>
          <a:xfrm>
            <a:off x="6263640" y="18745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support 3 new teams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26480" y="2651760"/>
            <a:ext cx="2743200" cy="640080"/>
          </a:xfrm>
          <a:prstGeom prst="roundRect">
            <a:avLst>
              <a:gd name="adj" fmla="val 8571"/>
            </a:avLst>
          </a:prstGeom>
          <a:solidFill>
            <a:srgbClr val="F3F4F6"/>
          </a:solidFill>
          <a:ln/>
        </p:spPr>
      </p:sp>
      <p:sp>
        <p:nvSpPr>
          <p:cNvPr id="29" name="Text 27"/>
          <p:cNvSpPr/>
          <p:nvPr/>
        </p:nvSpPr>
        <p:spPr>
          <a:xfrm>
            <a:off x="6263640" y="26517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isolation and auth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26480" y="3429000"/>
            <a:ext cx="2743200" cy="640080"/>
          </a:xfrm>
          <a:prstGeom prst="roundRect">
            <a:avLst>
              <a:gd name="adj" fmla="val 8571"/>
            </a:avLst>
          </a:prstGeom>
          <a:solidFill>
            <a:srgbClr val="F3F4F6"/>
          </a:solidFill>
          <a:ln/>
        </p:spPr>
      </p:sp>
      <p:sp>
        <p:nvSpPr>
          <p:cNvPr id="31" name="Text 29"/>
          <p:cNvSpPr/>
          <p:nvPr/>
        </p:nvSpPr>
        <p:spPr>
          <a:xfrm>
            <a:off x="6263640" y="34290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quality regression testing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126480" y="4206240"/>
            <a:ext cx="2743200" cy="640080"/>
          </a:xfrm>
          <a:prstGeom prst="roundRect">
            <a:avLst>
              <a:gd name="adj" fmla="val 8571"/>
            </a:avLst>
          </a:prstGeom>
          <a:solidFill>
            <a:srgbClr val="F3F4F6"/>
          </a:solidFill>
          <a:ln/>
        </p:spPr>
      </p:sp>
      <p:sp>
        <p:nvSpPr>
          <p:cNvPr id="33" name="Text 31"/>
          <p:cNvSpPr/>
          <p:nvPr/>
        </p:nvSpPr>
        <p:spPr>
          <a:xfrm>
            <a:off x="6263640" y="42062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allocation dashboards per team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Tradeoffs</a:t>
            </a:r>
            <a:endParaRPr lang="en-US" sz="2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51560"/>
          <a:ext cx="84124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743200"/>
                <a:gridCol w="36576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routing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Nano/mini/full via classifier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 cost reduction, &lt;5% quality loss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Embedding dims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512 vs 1536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 storage savings, negligible quality impact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Cache strategy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Semantic (cosine &gt; 0.95)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Catches paraphrased queries, 40-60% hit 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Vector DB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Pinecone serverless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100K free vectors, zero ops overhead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Vercel serverless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 idle cost, global CDN, instant deploys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Chunking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Heading-based (300-500 tokens)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Preserves topical coherence per chunk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 method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GPT-4.1-nano as judge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$0.0001 per eval, fast iteration cycles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Scalability</a:t>
            </a:r>
            <a:endParaRPr lang="en-US" sz="2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51560"/>
          <a:ext cx="84124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97280"/>
                <a:gridCol w="1828800"/>
                <a:gridCol w="4114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Changes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(current)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$0/mo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~500 queries/day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Vercel + Pinecone + Upstash free tiers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~$50/mo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~5K queries/day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Vercel Pro, Upstash PAYG, same code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~$200/mo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~25K queries/day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Pinecone Standard, dedicated cache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~$1K/mo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~100K queries/day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 discounts, multi-tenant, audit logs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$5K+/mo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500K+ queries/day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Migrate to AWS (EKS, ElastiCache, OpenSearch)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Tiers 1-3 require zero code changes. Just configuration.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ROIP: What It Does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54864" cy="10972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0972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Troubleshooting Chatbot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14630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about latency, errors, costs, scaling. Gets structured diagnosis with confidence scores, evidence, and prioritized actions.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98080" y="12801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/chat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54864" cy="109728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4688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Corpus Browser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28346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curated documents. Semantic search across OpenAI docs, AWS ML Lens, RAG patterns, troubleshooting trees, and case studies.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498080" y="26517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/corpus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54864" cy="10972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8404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Harness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60" y="42062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automated benchmarks across model configs. Compare quality, cost, and latency. GPT-4.1-nano judges relevance and completeness.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498080" y="40233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/eval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Approach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3520440"/>
            <a:ext cx="137160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0233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Shows I can diagnose RAG systems, not just describe them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4370832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Uses OpenAI's latest APIs (Responses API, GPT-4.1 family, structured outputs)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4718304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Demonstrates cost optimization thinking (query routing, caching, model selection)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5065776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Includes a working evaluation framework -- I'd validate before recommending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5413248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Ships fast: built in under 48 hours with zero-cost infrastructure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57607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Everything is measurable: latency, cost, quality, per query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731520" y="2651760"/>
            <a:ext cx="137160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0175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Greenberg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35661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github.com/realmwell/roip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ROIP: RAG Operations Intelligence Platform</dc:title>
  <dc:subject>PptxGenJS Presentation</dc:subject>
  <dc:creator>Max Greenberg</dc:creator>
  <cp:lastModifiedBy>Max Greenberg</cp:lastModifiedBy>
  <cp:revision>1</cp:revision>
  <dcterms:created xsi:type="dcterms:W3CDTF">2026-02-24T18:33:06Z</dcterms:created>
  <dcterms:modified xsi:type="dcterms:W3CDTF">2026-02-24T18:33:06Z</dcterms:modified>
</cp:coreProperties>
</file>